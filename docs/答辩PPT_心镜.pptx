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2026AIC · AI+心理健康 算法主题赛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D2A3A"/>
                </a:solidFill>
                <a:latin typeface="微软雅黑"/>
              </a:defRPr>
            </a:pPr>
            <a:r>
              <a:t>心镜 PsyMirror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D2A3A"/>
                </a:solidFill>
                <a:latin typeface="微软雅黑"/>
              </a:defRPr>
            </a:pPr>
            <a:r>
              <a:t>AI 心理健康的计量级评测场</a:t>
            </a:r>
          </a:p>
          <a:p>
            <a:pPr>
              <a:defRPr sz="2000">
                <a:solidFill>
                  <a:srgbClr val="1D2A3A"/>
                </a:solidFill>
                <a:latin typeface="微软雅黑"/>
              </a:defRPr>
            </a:pPr>
          </a:p>
          <a:p>
            <a:pPr>
              <a:defRPr sz="2000">
                <a:solidFill>
                  <a:srgbClr val="1D2A3A"/>
                </a:solidFill>
                <a:latin typeface="微软雅黑"/>
              </a:defRPr>
            </a:pPr>
            <a:r>
              <a:t>盲测协议 × 心理计量学 × 四场评测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2A3A"/>
                </a:solidFill>
                <a:latin typeface="微软雅黑"/>
              </a:defRPr>
            </a:pPr>
            <a:r>
              <a:t>量场 · 考场 · 炼场 · 预演场</a:t>
            </a:r>
          </a:p>
          <a:p>
            <a:pPr>
              <a:defRPr sz="1400">
                <a:solidFill>
                  <a:srgbClr val="1D2A3A"/>
                </a:solidFill>
                <a:latin typeface="微软雅黑"/>
              </a:defRPr>
            </a:pPr>
            <a:r>
              <a:t>团队编号：（待填）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PAIN POINT / 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A3A"/>
                </a:solidFill>
                <a:latin typeface="微软雅黑"/>
              </a:defRPr>
            </a:pPr>
            <a:r>
              <a:t>心理状态没有一把可验证的尺子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2546B"/>
                </a:solidFill>
                <a:latin typeface="微软雅黑"/>
              </a:defRPr>
            </a:pPr>
            <a:r>
              <a:t>• 行业瓶颈：心理状态无客观金标准；AI 心理产品疗效几乎全靠声称。</a:t>
            </a:r>
          </a:p>
          <a:p>
            <a:pPr>
              <a:defRPr sz="1500">
                <a:solidFill>
                  <a:srgbClr val="42546B"/>
                </a:solidFill>
                <a:latin typeface="微软雅黑"/>
              </a:defRPr>
            </a:pPr>
            <a:r>
              <a:t>• 实测证据：开源项目 Hardmind 中，设定相反的「孤独学生」与「开朗学生」前测 UCLA 均得高分（57 vs 61），</a:t>
            </a:r>
          </a:p>
          <a:p>
            <a:pPr>
              <a:defRPr sz="1500">
                <a:solidFill>
                  <a:srgbClr val="1D2A3A"/>
                </a:solidFill>
                <a:latin typeface="微软雅黑"/>
              </a:defRPr>
            </a:pPr>
            <a:r>
              <a:t>  提示词污染导致测量完全失效。</a:t>
            </a:r>
          </a:p>
          <a:p>
            <a:pPr>
              <a:defRPr sz="1500">
                <a:solidFill>
                  <a:srgbClr val="42546B"/>
                </a:solidFill>
                <a:latin typeface="微软雅黑"/>
              </a:defRPr>
            </a:pPr>
            <a:r>
              <a:t>• 前沿佐证：LLM「心理画像」被最新文献指为测量伪影（arXiv 2606.20205）。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METHOD / 四场评测场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A3A"/>
                </a:solidFill>
                <a:latin typeface="微软雅黑"/>
              </a:defRPr>
            </a:pPr>
            <a:r>
              <a:t>一个中心，四个场</a:t>
            </a:r>
          </a:p>
        </p:txBody>
      </p:sp>
      <p:pic>
        <p:nvPicPr>
          <p:cNvPr id="4" name="Picture 3" descr="d1_four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44234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FIELD 01 / 量场 · 盲测与信效度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A3A"/>
                </a:solidFill>
                <a:latin typeface="微软雅黑"/>
              </a:defRPr>
            </a:pPr>
            <a:r>
              <a:t>盲测恢复已知组区分（修复 Hardmind 失效）</a:t>
            </a:r>
          </a:p>
        </p:txBody>
      </p:sp>
      <p:pic>
        <p:nvPicPr>
          <p:cNvPr id="4" name="Picture 3" descr="fig1_known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23259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645920"/>
            <a:ext cx="3291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UCLA 高孤独 vs 低孤独：t=6.9，p=0.0002，d=4.3</a:t>
            </a:r>
          </a:p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PHQ-9 / GAD-7 已知组差异亦全部显著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FIELD 02 / 考场 · 文化测量等价性（方向 8）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A3A"/>
                </a:solidFill>
                <a:latin typeface="微软雅黑"/>
              </a:defRPr>
            </a:pPr>
            <a:r>
              <a:t>中文语境在症状量表上系统性高报</a:t>
            </a:r>
          </a:p>
        </p:txBody>
      </p:sp>
      <p:pic>
        <p:nvPicPr>
          <p:cNvPr id="4" name="Picture 3" descr="fig6_cul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2534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645920"/>
            <a:ext cx="3291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GAD-7 中文-英文：+4.6 分，p=0.0085</a:t>
            </a:r>
          </a:p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PHQ-9 中文-英文：+2.6 分，p=0.0177</a:t>
            </a:r>
          </a:p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全部 DIF 条目均为正方向 → 文化测量不等价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FIELD 03 / 炼场 · 危机安全评测（方向 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A3A"/>
                </a:solidFill>
                <a:latin typeface="微软雅黑"/>
              </a:defRPr>
            </a:pPr>
            <a:r>
              <a:t>危机评分卡：把安全变成可测的分数</a:t>
            </a:r>
          </a:p>
        </p:txBody>
      </p:sp>
      <p:pic>
        <p:nvPicPr>
          <p:cNvPr id="4" name="Picture 3" descr="fig7_cr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25484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645920"/>
            <a:ext cx="3291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识别率 10% · 危害率 10%</a:t>
            </a:r>
          </a:p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协议符合度 28%</a:t>
            </a:r>
          </a:p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C-SSRS 分级剧本 · 双通道评分（法官+词典）· κ 一致性报告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FIELD 04 / 预演场 · 数字孪生（方向 4/2）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A3A"/>
                </a:solidFill>
                <a:latin typeface="微软雅黑"/>
              </a:defRPr>
            </a:pPr>
            <a:r>
              <a:t>干预先在数字分身上试，再给人用</a:t>
            </a:r>
          </a:p>
        </p:txBody>
      </p:sp>
      <p:pic>
        <p:nvPicPr>
          <p:cNvPr id="4" name="Picture 3" descr="fig8_twin_pret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259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645920"/>
            <a:ext cx="3291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剂量-反应曲线 + A/B 匹配规则</a:t>
            </a:r>
          </a:p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与 E3 同构实验交叉验证</a:t>
            </a:r>
          </a:p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决策辅助，非临床证据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FINDING / 作答漂移定律（探索性）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A3A"/>
                </a:solidFill>
                <a:latin typeface="微软雅黑"/>
              </a:defRPr>
            </a:pPr>
            <a:r>
              <a:t>漂移随温度升、在症状量表上更强、中文更高</a:t>
            </a:r>
          </a:p>
        </p:txBody>
      </p:sp>
      <p:pic>
        <p:nvPicPr>
          <p:cNvPr id="4" name="Picture 3" descr="fig9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25420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645920"/>
            <a:ext cx="3291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症状量表 zh-en：+0.1，p=0.5466</a:t>
            </a:r>
          </a:p>
          <a:p>
            <a:pPr>
              <a:defRPr sz="1200">
                <a:solidFill>
                  <a:srgbClr val="1D2A3A"/>
                </a:solidFill>
                <a:latin typeface="微软雅黑"/>
              </a:defRPr>
            </a:pPr>
            <a:r>
              <a:t>负结果同样如实报告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OUTPUT / PsyMirror-Bench 榜单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A3A"/>
                </a:solidFill>
                <a:latin typeface="微软雅黑"/>
              </a:defRPr>
            </a:pPr>
            <a:r>
              <a:t>心理大模型五维评分卡 + 开放数据集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D2A3A"/>
                </a:solidFill>
                <a:latin typeface="微软雅黑"/>
              </a:defRPr>
            </a:pPr>
            <a:r>
              <a:t>信度（重测 ICC）· 效度（已知组+保真度）· 反应度（孪生预演）· 安全性（危机红队）· 文化等价（DIF）</a:t>
            </a:r>
          </a:p>
          <a:p>
            <a:pPr>
              <a:defRPr sz="1600">
                <a:solidFill>
                  <a:srgbClr val="1D2A3A"/>
                </a:solidFill>
                <a:latin typeface="微软雅黑"/>
              </a:defRPr>
            </a:pPr>
            <a:r>
              <a:t>任何 OpenAI 兼容心理大模型，一条命令入榜；商业模型提供 API key 即可评测。</a:t>
            </a:r>
          </a:p>
          <a:p>
            <a:pPr>
              <a:defRPr sz="1600">
                <a:solidFill>
                  <a:srgbClr val="1D2A3A"/>
                </a:solidFill>
                <a:latin typeface="微软雅黑"/>
              </a:defRPr>
            </a:pPr>
            <a:r>
              <a:t>全部条目级数据、剧本库、检查表开源，评分代码可复核。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APPLICATION / 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A3A"/>
                </a:solidFill>
                <a:latin typeface="微软雅黑"/>
              </a:defRPr>
            </a:pPr>
            <a:r>
              <a:t>三个落地场景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2546B"/>
                </a:solidFill>
                <a:latin typeface="微软雅黑"/>
              </a:defRPr>
            </a:pPr>
            <a:r>
              <a:t>• AI 心理产品效果质检：上市前/迭代时的第三方计量级评测</a:t>
            </a:r>
          </a:p>
          <a:p>
            <a:pPr>
              <a:defRPr sz="1600">
                <a:solidFill>
                  <a:srgbClr val="42546B"/>
                </a:solidFill>
                <a:latin typeface="微软雅黑"/>
              </a:defRPr>
            </a:pPr>
            <a:r>
              <a:t>• 心理教学：带真值的标准化仿真来访者（咨询训练、危机演练）</a:t>
            </a:r>
          </a:p>
          <a:p>
            <a:pPr>
              <a:defRPr sz="1600">
                <a:solidFill>
                  <a:srgbClr val="42546B"/>
                </a:solidFill>
                <a:latin typeface="微软雅黑"/>
              </a:defRPr>
            </a:pPr>
            <a:r>
              <a:t>• 心理大模型评测基准：跨模型五维榜单与开放数据集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SUMMARY / 总结展望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A3A"/>
                </a:solidFill>
                <a:latin typeface="微软雅黑"/>
              </a:defRPr>
            </a:pPr>
            <a:r>
              <a:t>已交付 · 待扩展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504D"/>
                </a:solidFill>
                <a:latin typeface="微软雅黑"/>
              </a:defRPr>
            </a:pPr>
            <a:r>
              <a:t>【已完成】四场评测场 E1-E8 全部跑通；81 项测试；真实数据与自动报告；视觉身份与示意图</a:t>
            </a:r>
          </a:p>
          <a:p>
            <a:pPr>
              <a:defRPr sz="1500" b="1">
                <a:solidFill>
                  <a:srgbClr val="C0504D"/>
                </a:solidFill>
                <a:latin typeface="微软雅黑"/>
              </a:defRPr>
            </a:pPr>
            <a:r>
              <a:t>【展望】跨模型榜单 / 真人常模校准 / 长程干预与危机演练 / 平台化服务 / 本土化量表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504D"/>
                </a:solidFill>
                <a:latin typeface="Consolas"/>
              </a:defRPr>
            </a:pPr>
            <a:r>
              <a:t>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2A3A"/>
                </a:solidFill>
                <a:latin typeface="微软雅黑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D2A3A"/>
                </a:solidFill>
                <a:latin typeface="微软雅黑"/>
              </a:defRPr>
            </a:pPr>
            <a:r>
              <a:t>代码与数据开源可复现：psybench/ + results_qwen25_7b/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