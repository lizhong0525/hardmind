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3A5F"/>
                </a:solidFill>
                <a:latin typeface="微软雅黑"/>
              </a:defRPr>
            </a:pPr>
            <a:r>
              <a:t>心镜 PsyBench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latin typeface="微软雅黑"/>
              </a:defRPr>
            </a:pPr>
            <a:r>
              <a:t>大模型心理仿真量化测评平台</a:t>
            </a:r>
          </a:p>
          <a:p>
            <a:pPr>
              <a:defRPr sz="2200">
                <a:latin typeface="微软雅黑"/>
              </a:defRPr>
            </a:pPr>
          </a:p>
          <a:p>
            <a:pPr>
              <a:defRPr sz="2200">
                <a:latin typeface="微软雅黑"/>
              </a:defRPr>
            </a:pPr>
            <a:r>
              <a:t>—— 为 AI 心理状态建立可验证的量化测评标准 ——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latin typeface="微软雅黑"/>
              </a:defRPr>
            </a:pPr>
            <a:r>
              <a:t>2026AIC「AI+心理健康」算法主题赛</a:t>
            </a:r>
          </a:p>
          <a:p>
            <a:pPr>
              <a:defRPr sz="1600">
                <a:latin typeface="微软雅黑"/>
              </a:defRPr>
            </a:pPr>
            <a:r>
              <a:t>团队编号：（待填）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痛点：心理状态无法量化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latin typeface="微软雅黑"/>
              </a:defRPr>
            </a:pPr>
            <a:r>
              <a:t>• 心理健康行业的基础性瓶颈：没有像血压血糖那样的客观心理度量。</a:t>
            </a:r>
          </a:p>
          <a:p>
            <a:pPr>
              <a:defRPr sz="1500">
                <a:latin typeface="微软雅黑"/>
              </a:defRPr>
            </a:pPr>
            <a:r>
              <a:t>• 真人自评存在社会赞许、报告偏差；大规模筛查与复测成本高。</a:t>
            </a:r>
          </a:p>
          <a:p>
            <a:pPr>
              <a:defRPr sz="1500">
                <a:latin typeface="微软雅黑"/>
              </a:defRPr>
            </a:pPr>
            <a:r>
              <a:t>• AI 心理产品（陪伴/疏导/心理大模型）的心理状态与疗效缺乏可验证的测量。</a:t>
            </a:r>
          </a:p>
          <a:p>
            <a:pPr>
              <a:defRPr sz="1500">
                <a:latin typeface="微软雅黑"/>
              </a:defRPr>
            </a:pPr>
            <a:r>
              <a:t>• 实测证据：开源项目 Hardmind 中，设定相反的孤独学生与开朗学生，</a:t>
            </a:r>
          </a:p>
          <a:p>
            <a:pPr>
              <a:defRPr sz="1600">
                <a:latin typeface="微软雅黑"/>
              </a:defRPr>
            </a:pPr>
            <a:r>
              <a:t>  前测 UCLA 得 57 vs 61（均为高分）——提示词污染导致测量完全失效。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需求分析与调研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latin typeface="微软雅黑"/>
              </a:defRPr>
            </a:pPr>
            <a:r>
              <a:t>• 文献调研：心理测量学经典 + 2023-2026 LLM 心理评估前沿（含测量伪影批判）。</a:t>
            </a:r>
          </a:p>
          <a:p>
            <a:pPr>
              <a:defRPr sz="1500">
                <a:latin typeface="微软雅黑"/>
              </a:defRPr>
            </a:pPr>
            <a:r>
              <a:t>• 代码审计：Hardmind 六大测量学缺陷（提示词污染/非盲测/无信效度/无统计/无对照/对象错位）。</a:t>
            </a:r>
          </a:p>
          <a:p>
            <a:pPr>
              <a:defRPr sz="1500">
                <a:latin typeface="微软雅黑"/>
              </a:defRPr>
            </a:pPr>
            <a:r>
              <a:t>• 竞品分析：AI 陪伴产品普遍以轮数、留存率代理疗效，无心理计量学证据。</a:t>
            </a:r>
          </a:p>
          <a:p>
            <a:pPr>
              <a:defRPr sz="1500">
                <a:latin typeface="微软雅黑"/>
              </a:defRPr>
            </a:pPr>
            <a:r>
              <a:t>• 归纳需求 R1-R7：量表库、Soul 规范、盲测、心理计量学验证、干预实验、可复现、伦理。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方案：通用心理学评测 × 大模型 Soul 仿真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latin typeface="微软雅黑"/>
              </a:defRPr>
            </a:pPr>
            <a:r>
              <a:t>把大模型 Soul 变成可重复、可干预、可标定真值的数字心理被试：</a:t>
            </a:r>
          </a:p>
          <a:p>
            <a:pPr>
              <a:defRPr sz="1600">
                <a:latin typeface="微软雅黑"/>
              </a:defRPr>
            </a:pPr>
            <a:r>
              <a:t>  P1 怎么造人 → Soul 规范：经历式人设（不贴标签）+ 声明真值（只校验不注入）</a:t>
            </a:r>
          </a:p>
          <a:p>
            <a:pPr>
              <a:defRPr sz="1600">
                <a:latin typeface="微软雅黑"/>
              </a:defRPr>
            </a:pPr>
            <a:r>
              <a:t>  P2 怎么量   → 盲测协议：中性问卷说明，前后测完全一致，5 套经典量表</a:t>
            </a:r>
          </a:p>
          <a:p>
            <a:pPr>
              <a:defRPr sz="1600">
                <a:latin typeface="微软雅黑"/>
              </a:defRPr>
            </a:pPr>
            <a:r>
              <a:t>  P3 怎么验   → 心理计量学四维验证：信度 / 效度 / 反应度 / 保真度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核心技术：盲测协议（对比 Hardmind）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latin typeface="微软雅黑"/>
              </a:defRPr>
            </a:pPr>
            <a:r>
              <a:t>Hardmind 前测提示：你心情总体不错 | 后测：你刚经历温暖对话，请按好转作答</a:t>
            </a:r>
          </a:p>
          <a:p>
            <a:pPr>
              <a:defRPr sz="1700">
                <a:latin typeface="微软雅黑"/>
              </a:defRPr>
            </a:pPr>
            <a:r>
              <a:t>心镜前测/后测：完全相同的学校心理健康中心匿名问卷，不含量表名、构念词、方向暗示。</a:t>
            </a:r>
          </a:p>
          <a:p>
            <a:pPr>
              <a:defRPr sz="1700">
                <a:latin typeface="微软雅黑"/>
              </a:defRPr>
            </a:pPr>
            <a:r>
              <a:t>人设只写经历（show, don't tell）；真值区间只用于事后校验。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四组实验（本地 qwen2.5:7b，全自动可复现）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latin typeface="微软雅黑"/>
              </a:defRPr>
            </a:pPr>
            <a:r>
              <a:t>E1 已知组效度+信度：4 Soul × 3 量表 × 5 次独立盲测 → α / ICC / Welch t / Cohen d</a:t>
            </a:r>
          </a:p>
          <a:p>
            <a:pPr>
              <a:defRPr sz="1600">
                <a:latin typeface="微软雅黑"/>
              </a:defRPr>
            </a:pPr>
            <a:r>
              <a:t>E2 仿真保真度：实测 vs 声明真值区间 → 命中率 / 归一化偏差 / 等级相关</a:t>
            </a:r>
          </a:p>
          <a:p>
            <a:pPr>
              <a:defRPr sz="1600">
                <a:latin typeface="微软雅黑"/>
              </a:defRPr>
            </a:pPr>
            <a:r>
              <a:t>E3 干预反应度：高孤独 Soul 三臂对照（陪伴/中性/书写）× 3 会话前后测 → 配对 t / dz</a:t>
            </a:r>
          </a:p>
          <a:p>
            <a:pPr>
              <a:defRPr sz="1600">
                <a:latin typeface="微软雅黑"/>
              </a:defRPr>
            </a:pPr>
            <a:r>
              <a:t>E4 作答校正：标准盲测 vs 追加人群参照说明（探索性）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结果 E1：盲测恢复已知组区分（修复 Hardmind 失效）</a:t>
            </a:r>
          </a:p>
        </p:txBody>
      </p:sp>
      <p:pic>
        <p:nvPicPr>
          <p:cNvPr id="3" name="Picture 2" descr="fig1_known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498079" cy="23259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645920"/>
            <a:ext cx="3566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latin typeface="微软雅黑"/>
              </a:defRPr>
            </a:pPr>
            <a:r>
              <a:t>UCLA：高孤独 53.6 vs 低孤独 36.8，p=0.0002，d=4.34（Hardmind 为 57 vs 61）</a:t>
            </a:r>
          </a:p>
          <a:p>
            <a:pPr>
              <a:defRPr sz="1300">
                <a:latin typeface="微软雅黑"/>
              </a:defRPr>
            </a:pPr>
            <a:r>
              <a:t>PHQ-9/GAD-7 已知组差异亦全部显著；等级相关 ρ=0.4~0.8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结果 E3：框架的价值在于否决伪阳性</a:t>
            </a:r>
          </a:p>
        </p:txBody>
      </p:sp>
      <p:pic>
        <p:nvPicPr>
          <p:cNvPr id="3" name="Picture 2" descr="fig2_interv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498079" cy="41205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0" y="1645920"/>
            <a:ext cx="3566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latin typeface="微软雅黑"/>
              </a:defRPr>
            </a:pPr>
            <a:r>
              <a:t>修复测量污染后重跑：6 轮干预三臂 UCLA 变化均不显著（n=3）</a:t>
            </a:r>
          </a:p>
          <a:p>
            <a:pPr>
              <a:defRPr sz="1300">
                <a:latin typeface="微软雅黑"/>
              </a:defRPr>
            </a:pPr>
            <a:r>
              <a:t>旧缺陷数据曾现陪伴优于中性（p=0.024），修复后消失</a:t>
            </a:r>
          </a:p>
          <a:p>
            <a:pPr>
              <a:defRPr sz="1300">
                <a:latin typeface="微软雅黑"/>
              </a:defRPr>
            </a:pPr>
            <a:r>
              <a:t>盲测+对照+重测 = 可复核的疗效证据形式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发现：LLM 症状量表系统性高报（作答漂移）</a:t>
            </a:r>
          </a:p>
        </p:txBody>
      </p:sp>
      <p:pic>
        <p:nvPicPr>
          <p:cNvPr id="3" name="Picture 2" descr="fig3_fide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400800" cy="47654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645920"/>
            <a:ext cx="4114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latin typeface="微软雅黑"/>
              </a:defRPr>
            </a:pPr>
            <a:r>
              <a:t>方向正确、绝对水平偏高：开朗角色的 GAD-7 实测 15.2（声明 0-4）</a:t>
            </a:r>
          </a:p>
          <a:p>
            <a:pPr>
              <a:defRPr sz="1400">
                <a:latin typeface="微软雅黑"/>
              </a:defRPr>
            </a:pPr>
            <a:r>
              <a:t>与最新文献 LLM 心理画像是测量伪影 的发现一致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应用场景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latin typeface="微软雅黑"/>
              </a:defRPr>
            </a:pPr>
            <a:r>
              <a:t>• AI 心理产品效果质检：第三方、可复现的疗效验证尺子</a:t>
            </a:r>
          </a:p>
          <a:p>
            <a:pPr>
              <a:defRPr sz="1500">
                <a:latin typeface="微软雅黑"/>
              </a:defRPr>
            </a:pPr>
            <a:r>
              <a:t>• 心理教学：带真值的标准化仿真来访者（咨询技能训练、危机演练）</a:t>
            </a:r>
          </a:p>
          <a:p>
            <a:pPr>
              <a:defRPr sz="1500">
                <a:latin typeface="微软雅黑"/>
              </a:defRPr>
            </a:pPr>
            <a:r>
              <a:t>• 心理大模型评测基准：跨模型心理仿真保真度排行榜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微软雅黑"/>
              </a:defRPr>
            </a:pPr>
            <a:r>
              <a:t>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504D"/>
                </a:solidFill>
                <a:latin typeface="微软雅黑"/>
              </a:defRPr>
            </a:pPr>
            <a:r>
              <a:t>【已完成】Soul 规范 + 盲测协议 + 四维心理计量学验证 + 三臂干预实验 + 全自动报告</a:t>
            </a:r>
          </a:p>
          <a:p>
            <a:pPr>
              <a:defRPr sz="1600" b="1">
                <a:solidFill>
                  <a:srgbClr val="C0504D"/>
                </a:solidFill>
                <a:latin typeface="微软雅黑"/>
              </a:defRPr>
            </a:pPr>
            <a:r>
              <a:t>【展望】跨模型基准 / 真人常模校准 / 长程干预与危机场景 / 平台化服务 / 本土化量表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3A5F"/>
                </a:solidFill>
                <a:latin typeface="微软雅黑"/>
              </a:defRPr>
            </a:pPr>
            <a:r>
              <a:t>谢谢！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424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latin typeface="微软雅黑"/>
              </a:defRPr>
            </a:pPr>
            <a:r>
              <a:t>代码与数据开源可复现：psybench/ + results_qwen25_7b/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